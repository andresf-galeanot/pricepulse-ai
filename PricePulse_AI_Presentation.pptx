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98064"/>
            <a:ext cx="12191695" cy="18288"/>
          </a:xfrm>
          <a:prstGeom prst="roundRect">
            <a:avLst/>
          </a:prstGeom>
          <a:solidFill>
            <a:srgbClr val="FF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PRICEPULSE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Calibri"/>
              </a:defRPr>
            </a:pPr>
            <a:r>
              <a:t>Monitoreo inteligente de precios e-commerce con 3 agentes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FastAPI  ·  CrewAI  ·  NVIDIA NIM  ·  n8n  ·  PostgreSQL  · 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Calibri"/>
              </a:defRPr>
            </a:pPr>
            <a:r>
              <a:t>github.com/AndresF-GaleanoT/pricepulse-ai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El Problema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2860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2000" b="1">
                <a:solidFill>
                  <a:srgbClr val="FF9800"/>
                </a:solidFill>
                <a:latin typeface="Calibri"/>
              </a:defRPr>
            </a:pPr>
            <a:r>
              <a:t>Seguimiento manual</a:t>
            </a:r>
          </a:p>
          <a:p>
            <a:pPr>
              <a:spcBef>
                <a:spcPts val="8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Miles de productos cambian de precio</a:t>
            </a:r>
            <a:br/>
            <a:r>
              <a:t>cada hora. Hacer tracking manual de</a:t>
            </a:r>
            <a:br/>
            <a:r>
              <a:t>Amazon, eBay y Mercado Libre es</a:t>
            </a:r>
            <a:br/>
            <a:r>
              <a:t>imposible a escala.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0292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2000" b="1">
                <a:solidFill>
                  <a:srgbClr val="FF0088"/>
                </a:solidFill>
                <a:latin typeface="Calibri"/>
              </a:defRPr>
            </a:pPr>
            <a:r>
              <a:t>Ofertas perdidas</a:t>
            </a:r>
          </a:p>
          <a:p>
            <a:pPr>
              <a:spcBef>
                <a:spcPts val="8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Las mejores oportunidades duran</a:t>
            </a:r>
            <a:br/>
            <a:r>
              <a:t>minutos. Sin automatizacion es</a:t>
            </a:r>
            <a:br/>
            <a:r>
              <a:t>imposible detectarlas a tiempo y</a:t>
            </a:r>
            <a:br/>
            <a:r>
              <a:t>actuar.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5156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Solucion: PricePulse AI</a:t>
            </a:r>
          </a:p>
          <a:p>
            <a:pPr>
              <a:spcBef>
                <a:spcPts val="800"/>
              </a:spcBef>
              <a:defRPr sz="1600">
                <a:solidFill>
                  <a:srgbClr val="AAAAAA"/>
                </a:solidFill>
                <a:latin typeface="Calibri"/>
              </a:defRPr>
            </a:pPr>
            <a:r>
              <a:t>Automatiza la busqueda, analisis y reporte de precios en 3 plataformas simultaneamente. Resultado en menos de 10 segundos.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Stack Tecnologico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2860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254000" bIns="152400"/>
          <a:lstStyle/>
          <a:p>
            <a:pPr algn="ctr">
              <a:defRPr sz="2600" b="1">
                <a:solidFill>
                  <a:srgbClr val="00D2FF"/>
                </a:solidFill>
                <a:latin typeface="Calibri"/>
              </a:defRPr>
            </a:pPr>
            <a:r>
              <a:t>FastAPI</a:t>
            </a:r>
          </a:p>
          <a:p>
            <a:pPr algn="ctr">
              <a:spcBef>
                <a:spcPts val="10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API async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828800"/>
            <a:ext cx="256032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254000" bIns="152400"/>
          <a:lstStyle/>
          <a:p>
            <a:pPr algn="ctr">
              <a:defRPr sz="2600" b="1">
                <a:solidFill>
                  <a:srgbClr val="FF0088"/>
                </a:solidFill>
                <a:latin typeface="Calibri"/>
              </a:defRPr>
            </a:pPr>
            <a:r>
              <a:t>CrewAI</a:t>
            </a:r>
          </a:p>
          <a:p>
            <a:pPr algn="ctr">
              <a:spcBef>
                <a:spcPts val="10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3 agentes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256032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254000" bIns="152400"/>
          <a:lstStyle/>
          <a:p>
            <a:pPr algn="ctr">
              <a:defRPr sz="2600" b="1">
                <a:solidFill>
                  <a:srgbClr val="00E676"/>
                </a:solidFill>
                <a:latin typeface="Calibri"/>
              </a:defRPr>
            </a:pPr>
            <a:r>
              <a:t>NVIDIA NIM</a:t>
            </a:r>
          </a:p>
          <a:p>
            <a:pPr algn="ctr">
              <a:spcBef>
                <a:spcPts val="10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Llama 3.1 70B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828800"/>
            <a:ext cx="256032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254000" bIns="152400"/>
          <a:lstStyle/>
          <a:p>
            <a:pPr algn="ctr">
              <a:defRPr sz="2600" b="1">
                <a:solidFill>
                  <a:srgbClr val="FF9800"/>
                </a:solidFill>
                <a:latin typeface="Calibri"/>
              </a:defRPr>
            </a:pPr>
            <a:r>
              <a:t>SerpAPI</a:t>
            </a:r>
          </a:p>
          <a:p>
            <a:pPr algn="ctr">
              <a:spcBef>
                <a:spcPts val="10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Precios en vivo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256032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254000" bIns="152400"/>
          <a:lstStyle/>
          <a:p>
            <a:pPr algn="ctr">
              <a:defRPr sz="2600" b="1">
                <a:solidFill>
                  <a:srgbClr val="00D2FF"/>
                </a:solidFill>
                <a:latin typeface="Calibri"/>
              </a:defRPr>
            </a:pPr>
            <a:r>
              <a:t>n8n</a:t>
            </a:r>
          </a:p>
          <a:p>
            <a:pPr algn="ctr">
              <a:spcBef>
                <a:spcPts val="10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Orquestador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4114800"/>
            <a:ext cx="256032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254000" bIns="152400"/>
          <a:lstStyle/>
          <a:p>
            <a:pPr algn="ctr">
              <a:defRPr sz="2600" b="1">
                <a:solidFill>
                  <a:srgbClr val="00E676"/>
                </a:solidFill>
                <a:latin typeface="Calibri"/>
              </a:defRPr>
            </a:pPr>
            <a:r>
              <a:t>PostgreSQL</a:t>
            </a:r>
          </a:p>
          <a:p>
            <a:pPr algn="ctr">
              <a:spcBef>
                <a:spcPts val="10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Historial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114800"/>
            <a:ext cx="256032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254000" bIns="152400"/>
          <a:lstStyle/>
          <a:p>
            <a:pPr algn="ctr">
              <a:defRPr sz="2600" b="1">
                <a:solidFill>
                  <a:srgbClr val="FF0088"/>
                </a:solidFill>
                <a:latin typeface="Calibri"/>
              </a:defRPr>
            </a:pPr>
            <a:r>
              <a:t>Streamlit</a:t>
            </a:r>
          </a:p>
          <a:p>
            <a:pPr algn="ctr">
              <a:spcBef>
                <a:spcPts val="10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4114800"/>
            <a:ext cx="256032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254000" bIns="152400"/>
          <a:lstStyle/>
          <a:p>
            <a:pPr algn="ctr">
              <a:defRPr sz="2600" b="1">
                <a:solidFill>
                  <a:srgbClr val="FF9800"/>
                </a:solidFill>
                <a:latin typeface="Calibri"/>
              </a:defRPr>
            </a:pPr>
            <a:r>
              <a:t>Docker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Portable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Arquitectura del Sistema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2860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2743200" cy="16459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203200" bIns="101600"/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n8n Schedule</a:t>
            </a:r>
          </a:p>
          <a:p>
            <a:pPr algn="ctr">
              <a:spcBef>
                <a:spcPts val="8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Dispara a las 00, 08, 16 UTC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2FF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743200" cy="16459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203200" bIns="101600"/>
          <a:lstStyle/>
          <a:p>
            <a:pPr algn="ctr">
              <a:defRPr sz="2000" b="1">
                <a:solidFill>
                  <a:srgbClr val="FF0088"/>
                </a:solidFill>
                <a:latin typeface="Calibri"/>
              </a:defRPr>
            </a:pPr>
            <a:r>
              <a:t>SerpAPI</a:t>
            </a:r>
          </a:p>
          <a:p>
            <a:pPr algn="ctr">
              <a:spcBef>
                <a:spcPts val="8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Busca en Amazon, eBay,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0088"/>
                </a:solidFill>
                <a:latin typeface="Calibri"/>
              </a:defRPr>
            </a:pPr>
            <a:r>
              <a:t>Precios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828800"/>
            <a:ext cx="2743200" cy="16459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203200" bIns="101600"/>
          <a:lstStyle/>
          <a:p>
            <a:pPr algn="ctr">
              <a:defRPr sz="2000" b="1">
                <a:solidFill>
                  <a:srgbClr val="00E676"/>
                </a:solidFill>
                <a:latin typeface="Calibri"/>
              </a:defRPr>
            </a:pPr>
            <a:r>
              <a:t>CrewAI Agents</a:t>
            </a:r>
          </a:p>
          <a:p>
            <a:pPr algn="ctr">
              <a:spcBef>
                <a:spcPts val="8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Captador &gt; Organizador &gt; Redactor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t>Analisis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828800"/>
            <a:ext cx="2011680" cy="16459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203200" bIns="101600"/>
          <a:lstStyle/>
          <a:p>
            <a:pPr algn="ctr">
              <a:defRPr sz="2000" b="1">
                <a:solidFill>
                  <a:srgbClr val="FF9800"/>
                </a:solidFill>
                <a:latin typeface="Calibri"/>
              </a:defRPr>
            </a:pPr>
            <a:r>
              <a:t>PostgreSQL</a:t>
            </a:r>
          </a:p>
          <a:p>
            <a:pPr algn="ctr">
              <a:spcBef>
                <a:spcPts val="8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Historial persistente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114800"/>
            <a:ext cx="2286000" cy="10972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101600" bIns="101600"/>
          <a:lstStyle/>
          <a:p>
            <a:pPr algn="ctr">
              <a:defRPr sz="1400">
                <a:solidFill>
                  <a:srgbClr val="CCCCDD"/>
                </a:solidFill>
                <a:latin typeface="Calibri"/>
              </a:defRPr>
            </a:pPr>
            <a:r>
              <a:t>Google Sheets  -  Backup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114800"/>
            <a:ext cx="2286000" cy="10972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101600" bIns="101600"/>
          <a:lstStyle/>
          <a:p>
            <a:pPr algn="ctr">
              <a:defRPr sz="1400">
                <a:solidFill>
                  <a:srgbClr val="CCCCDD"/>
                </a:solidFill>
                <a:latin typeface="Calibri"/>
              </a:defRPr>
            </a:pPr>
            <a:r>
              <a:t>Excel .xlsx  -  Exportacion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114800"/>
            <a:ext cx="2286000" cy="10972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101600" bIns="101600"/>
          <a:lstStyle/>
          <a:p>
            <a:pPr algn="ctr">
              <a:defRPr sz="1400">
                <a:solidFill>
                  <a:srgbClr val="CCCCDD"/>
                </a:solidFill>
                <a:latin typeface="Calibri"/>
              </a:defRPr>
            </a:pPr>
            <a:r>
              <a:t>Dashboard  -  Streamlit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114800"/>
            <a:ext cx="2286000" cy="10972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101600" bIns="101600"/>
          <a:lstStyle/>
          <a:p>
            <a:pPr algn="ctr">
              <a:defRPr sz="1400">
                <a:solidFill>
                  <a:srgbClr val="CCCCDD"/>
                </a:solidFill>
                <a:latin typeface="Calibri"/>
              </a:defRPr>
            </a:pPr>
            <a:r>
              <a:t>PDF Report  -  Descargable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Resultados 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Todo corre via Docker Compose en Oracle Linux con Cloudflare Tunnel para HTTPS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Flujo de Precios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2860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Cada ejecucion busca hasta 20 precios en 3 plataformas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25603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Amazon</a:t>
            </a:r>
          </a:p>
          <a:p>
            <a:pPr>
              <a:spcBef>
                <a:spcPts val="8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Motor dedicado engine=amazon</a:t>
            </a:r>
            <a:br/>
            <a:r>
              <a:t>5 resultados directos</a:t>
            </a:r>
            <a:br/>
            <a:r>
              <a:t>Precio + link limpio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25603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2000" b="1">
                <a:solidFill>
                  <a:srgbClr val="FF0088"/>
                </a:solidFill>
                <a:latin typeface="Calibri"/>
              </a:defRPr>
            </a:pPr>
            <a:r>
              <a:t>eBay</a:t>
            </a:r>
          </a:p>
          <a:p>
            <a:pPr>
              <a:spcBef>
                <a:spcPts val="8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Google Shopping filtrado</a:t>
            </a:r>
            <a:br/>
            <a:r>
              <a:t>10 resultados</a:t>
            </a:r>
            <a:br/>
            <a:r>
              <a:t>Solo source=ebay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00400" cy="25603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2000" b="1">
                <a:solidFill>
                  <a:srgbClr val="00E676"/>
                </a:solidFill>
                <a:latin typeface="Calibri"/>
              </a:defRPr>
            </a:pPr>
            <a:r>
              <a:t>Mercado Libre</a:t>
            </a:r>
          </a:p>
          <a:p>
            <a:pPr>
              <a:spcBef>
                <a:spcPts val="8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Google site:mercadolibre.com</a:t>
            </a:r>
            <a:br/>
            <a:r>
              <a:t>5 resultados</a:t>
            </a:r>
            <a:br/>
            <a:r>
              <a:t>Precio via rich_snippet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9800"/>
                </a:solidFill>
                <a:latin typeface="Calibri"/>
              </a:defRPr>
            </a:pPr>
            <a:r>
              <a:t>Cache configurable (TTL 4h)  ·  Los 10 mejores precios van a CrewAI  ·  Fallback silencioso por plataforma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Ejemplo: Raspberry Pi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Amazon: 16 resultados desde $86  |  eBay: 8 resultados desde $97  |  ML: (en desarrollo)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Pipeline de 3 Agentes CrewAI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2860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00400" cy="32004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1  CAPTADOR</a:t>
            </a:r>
          </a:p>
          <a:p>
            <a:pPr>
              <a:spcBef>
                <a:spcPts val="8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Extrae metricas numericas:</a:t>
            </a:r>
            <a:br/>
            <a:r>
              <a:t>* Precio minimo</a:t>
            </a:r>
            <a:br/>
            <a:r>
              <a:t>* Precio maximo</a:t>
            </a:r>
            <a:br/>
            <a:r>
              <a:t>* Precio promedio</a:t>
            </a:r>
            <a:br/>
            <a:r>
              <a:t>* Anomalias detectadas</a:t>
            </a:r>
            <a:br/>
            <a:r>
              <a:t>* Mejor plataforma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00400" cy="32004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2200" b="1">
                <a:solidFill>
                  <a:srgbClr val="FF0088"/>
                </a:solidFill>
                <a:latin typeface="Calibri"/>
              </a:defRPr>
            </a:pPr>
            <a:r>
              <a:t>2  ORGANIZADOR</a:t>
            </a:r>
          </a:p>
          <a:p>
            <a:pPr>
              <a:spcBef>
                <a:spcPts val="8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Estructura en 4 secciones:</a:t>
            </a:r>
            <a:br/>
            <a:r>
              <a:t>* Metricas</a:t>
            </a:r>
            <a:br/>
            <a:r>
              <a:t>* Comparativa</a:t>
            </a:r>
            <a:br/>
            <a:r>
              <a:t>* Anomalias</a:t>
            </a:r>
            <a:br/>
            <a:r>
              <a:t>* Recomendacion</a:t>
            </a:r>
            <a:br/>
            <a:r>
              <a:t>* Veredicto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200400" cy="32004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3  REDACTOR</a:t>
            </a:r>
          </a:p>
          <a:p>
            <a:pPr>
              <a:spcBef>
                <a:spcPts val="8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Genera JSON estricto:</a:t>
            </a:r>
            <a:br/>
            <a:r>
              <a:t>* 9 campos exactos</a:t>
            </a:r>
            <a:br/>
            <a:r>
              <a:t>* Sin markdown</a:t>
            </a:r>
            <a:br/>
            <a:r>
              <a:t>* Sin texto extra</a:t>
            </a:r>
            <a:br/>
            <a:r>
              <a:t>* Listo para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AAAA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AAAA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LLM: NVIDIA NIM Llama 3.1 70B  |  Temperatura: 0  |  Verbose: false  |  Timeout: 120s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Respuesta de la 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2860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Estructura JSON completa para integracion automatica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03200" bIns="203200"/>
          <a:lstStyle/>
          <a:p>
            <a:pPr algn="ctr">
              <a:defRPr sz="1200">
                <a:solidFill>
                  <a:srgbClr val="00E676"/>
                </a:solidFill>
                <a:latin typeface="Consolas"/>
              </a:defRPr>
            </a:pPr>
            <a:r>
              <a:t>{</a:t>
            </a:r>
            <a:br/>
            <a:r>
              <a:t>  "status": "success",</a:t>
            </a:r>
            <a:br/>
            <a:r>
              <a:t>  "producto": "Raspberry Pi 5",</a:t>
            </a:r>
            <a:br/>
            <a:r>
              <a:t>  "precios_encontrados": [ { "plataforma": "Amazon", "titulo": "...", "precio": 86.18, "link": "..." } ],</a:t>
            </a:r>
            <a:br/>
            <a:r>
              <a:t>  "reporte_ia": "Analisis completo del Captador, Organizador y Redactor...",</a:t>
            </a:r>
            <a:br/>
            <a:r>
              <a:t>  "resumen": {</a:t>
            </a:r>
            <a:br/>
            <a:r>
              <a:t>    "precio_minimo": 86.18, "precio_maximo": 259.95, "precio_promedio": 169.99,</a:t>
            </a:r>
            <a:br/>
            <a:r>
              <a:t>    "mejor_plataforma": "Amazon", "veredicto": "oferta", "recomendacion": "comprar"</a:t>
            </a:r>
            <a:br/>
            <a:r>
              <a:t>  },</a:t>
            </a:r>
            <a:br/>
            <a:r>
              <a:t>  "filas": [ { "fecha": "2026-07-30", "producto": "Raspberry Pi 5", "plataforma": "Amazon", "precio": 86.18 } ]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10515600" cy="9144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2000" b="1">
                <a:solidFill>
                  <a:srgbClr val="FF9800"/>
                </a:solidFill>
                <a:latin typeface="Calibri"/>
              </a:defRPr>
            </a:pPr>
            <a:r>
              <a:t>filas array -&gt; Directo a Google Sheets y Excel via n8n</a:t>
            </a:r>
          </a:p>
          <a:p>
            <a:pPr>
              <a:spcBef>
                <a:spcPts val="8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Cada fila incluye: fecha, producto, plataforma, titulo, precio, link + fila RESUMEN con veredicto 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Dashboard en Vivo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2860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Streamlit - sin dependencias externas (lee directo de la API)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286000" cy="16459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52400" bIns="152400"/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35+</a:t>
            </a:r>
          </a:p>
          <a:p>
            <a:pPr algn="ctr">
              <a:spcBef>
                <a:spcPts val="6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Precios por ejecucion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2286000" cy="16459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52400" bIns="152400"/>
          <a:lstStyle/>
          <a:p>
            <a:pPr algn="ctr">
              <a:defRPr sz="3600" b="1">
                <a:solidFill>
                  <a:srgbClr val="FF0088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6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Plataformas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828800"/>
            <a:ext cx="2286000" cy="16459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52400" bIns="152400"/>
          <a:lstStyle/>
          <a:p>
            <a:pPr algn="ctr">
              <a:defRPr sz="3600" b="1">
                <a:solidFill>
                  <a:srgbClr val="00E676"/>
                </a:solidFill>
                <a:latin typeface="Calibri"/>
              </a:defRPr>
            </a:pPr>
            <a:r>
              <a:t>10s</a:t>
            </a:r>
          </a:p>
          <a:p>
            <a:pPr algn="ctr">
              <a:spcBef>
                <a:spcPts val="6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Respuesta 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2286000" cy="16459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52400" bIns="152400"/>
          <a:lstStyle/>
          <a:p>
            <a:pPr algn="ctr">
              <a:defRPr sz="3600" b="1">
                <a:solidFill>
                  <a:srgbClr val="FF9800"/>
                </a:solidFill>
                <a:latin typeface="Calibri"/>
              </a:defRPr>
            </a:pPr>
            <a:r>
              <a:t>$0</a:t>
            </a:r>
          </a:p>
          <a:p>
            <a:pPr algn="ctr">
              <a:spcBef>
                <a:spcPts val="6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Costo operativo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27432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Graficos</a:t>
            </a:r>
          </a:p>
          <a:p>
            <a:pPr>
              <a:spcBef>
                <a:spcPts val="8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Promedio por plataforma y tendencias historicas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3840480"/>
            <a:ext cx="27432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Filtros</a:t>
            </a:r>
          </a:p>
          <a:p>
            <a:pPr>
              <a:spcBef>
                <a:spcPts val="8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Por producto, plataforma y rango de fechas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3840480"/>
            <a:ext cx="27432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Tabla</a:t>
            </a:r>
          </a:p>
          <a:p>
            <a:pPr>
              <a:spcBef>
                <a:spcPts val="8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Detalle con links a cada oferta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840480"/>
            <a:ext cx="27432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Metricas</a:t>
            </a:r>
          </a:p>
          <a:p>
            <a:pPr>
              <a:spcBef>
                <a:spcPts val="8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KPIs en tiempo real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Demo Rapida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2860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3657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03200"/>
          <a:lstStyle/>
          <a:p>
            <a:pPr algn="ctr">
              <a:defRPr sz="1300">
                <a:solidFill>
                  <a:srgbClr val="FFFFFF"/>
                </a:solidFill>
                <a:latin typeface="Consolas"/>
              </a:defRPr>
            </a:pPr>
            <a:r>
              <a:t>curl -X POST http://localhost:8000/analizar-precios \</a:t>
            </a:r>
            <a:br/>
            <a:r>
              <a:t>  -H "Content-Type: application/json" \</a:t>
            </a:r>
            <a:br/>
            <a:r>
              <a:t>  -d '{"producto": "Raspberry Pi 5",</a:t>
            </a:r>
            <a:br/>
            <a:r>
              <a:t>        "plataformas": ["amazon", "ebay", "mercadolibre"]}'</a:t>
            </a:r>
          </a:p>
          <a:p>
            <a:br/>
            <a:pPr>
              <a:spcBef>
                <a:spcPts val="1200"/>
              </a:spcBef>
              <a:defRPr sz="1300">
                <a:solidFill>
                  <a:srgbClr val="00E676"/>
                </a:solidFill>
                <a:latin typeface="Consolas"/>
              </a:defRPr>
            </a:pPr>
            <a:r>
              <a:t>$ curl | jq '.filas | length'</a:t>
            </a:r>
            <a:br/>
            <a:r>
              <a:t>=&gt; 24 resultados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029200" cy="3657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03200"/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Resultados del analisis:</a:t>
            </a:r>
          </a:p>
          <a:p>
            <a:pPr>
              <a:spcBef>
                <a:spcPts val="400"/>
              </a:spcBef>
              <a:defRPr sz="1300">
                <a:solidFill>
                  <a:srgbClr val="00E676"/>
                </a:solidFill>
                <a:latin typeface="Calibri"/>
              </a:defRPr>
            </a:pPr>
            <a:r>
              <a:t>Amazon: 16 productos desde $86</a:t>
            </a:r>
          </a:p>
          <a:p>
            <a:pPr>
              <a:spcBef>
                <a:spcPts val="400"/>
              </a:spcBef>
              <a:defRPr sz="1300">
                <a:solidFill>
                  <a:srgbClr val="00E676"/>
                </a:solidFill>
                <a:latin typeface="Calibri"/>
              </a:defRPr>
            </a:pPr>
            <a:r>
              <a:t>eBay: 8 productos desde $97</a:t>
            </a:r>
          </a:p>
          <a:p>
            <a:pPr>
              <a:spcBef>
                <a:spcPts val="400"/>
              </a:spcBef>
              <a:defRPr sz="1300">
                <a:solidFill>
                  <a:srgbClr val="AAAAAA"/>
                </a:solidFill>
                <a:latin typeface="Calibri"/>
              </a:defRPr>
            </a:pPr>
            <a:r>
              <a:t>Mejor precio: Amazon a $86 (Pi 5 2GB)</a:t>
            </a:r>
          </a:p>
          <a:p>
            <a:pPr>
              <a:spcBef>
                <a:spcPts val="400"/>
              </a:spcBef>
              <a:defRPr sz="1300">
                <a:solidFill>
                  <a:srgbClr val="AAAAAA"/>
                </a:solidFill>
                <a:latin typeface="Calibri"/>
              </a:defRPr>
            </a:pPr>
            <a:r>
              <a:t>Promedio general: ~$170</a:t>
            </a:r>
          </a:p>
          <a:p>
            <a:pPr>
              <a:spcBef>
                <a:spcPts val="400"/>
              </a:spcBef>
              <a:defRPr sz="1300">
                <a:solidFill>
                  <a:srgbClr val="AAAAAA"/>
                </a:solidFill>
                <a:latin typeface="Calibri"/>
              </a:defRPr>
            </a:pPr>
            <a:r>
              <a:t>Veredicto: OFERTA en Amazon</a:t>
            </a:r>
          </a:p>
          <a:p>
            <a:pPr>
              <a:spcBef>
                <a:spcPts val="400"/>
              </a:spcBef>
              <a:defRPr sz="1300">
                <a:solidFill>
                  <a:srgbClr val="AAAAA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AAAAAA"/>
                </a:solidFill>
                <a:latin typeface="Calibri"/>
              </a:defRPr>
            </a:pPr>
            <a:r>
              <a:t>-&gt; 24 filas enviadas a Google Sheets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Pruebalo tu mismo: docker compose exec api curl http://localhost:8000/health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Resultados y Costos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2860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0040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34+ precios/ejecucion</a:t>
            </a:r>
          </a:p>
          <a:p>
            <a:pPr>
              <a:spcBef>
                <a:spcPts val="8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Amazon + eBay + Mercado Libre</a:t>
            </a:r>
            <a:br/>
            <a:r>
              <a:t>en menos de 10 segundos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0040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2200" b="1">
                <a:solidFill>
                  <a:srgbClr val="FF0088"/>
                </a:solidFill>
                <a:latin typeface="Calibri"/>
              </a:defRPr>
            </a:pPr>
            <a:r>
              <a:t>100% automatico</a:t>
            </a:r>
          </a:p>
          <a:p>
            <a:pPr>
              <a:spcBef>
                <a:spcPts val="8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Schedule n8n cada 8h</a:t>
            </a:r>
            <a:br/>
            <a:r>
              <a:t>0 intervencion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20040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Costo $0/mes</a:t>
            </a:r>
          </a:p>
          <a:p>
            <a:pPr>
              <a:spcBef>
                <a:spcPts val="800"/>
              </a:spcBef>
              <a:defRPr sz="1400">
                <a:solidFill>
                  <a:srgbClr val="AAAAAA"/>
                </a:solidFill>
                <a:latin typeface="Calibri"/>
              </a:defRPr>
            </a:pPr>
            <a:r>
              <a:t>Todo en tiers gratuitos</a:t>
            </a:r>
            <a:br/>
            <a:r>
              <a:t>NVIDIA NIM + SerpAPI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5156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0320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Desglose de costos operativos</a:t>
            </a:r>
          </a:p>
          <a:p>
            <a:pPr>
              <a:spcBef>
                <a:spcPts val="300"/>
              </a:spcBef>
              <a:defRPr sz="1300">
                <a:solidFill>
                  <a:srgbClr val="AAAAAA"/>
                </a:solidFill>
                <a:latin typeface="Consolas"/>
              </a:defRPr>
            </a:pPr>
            <a:r>
              <a:t>NVIDIA NIM (1000 credits/mes) ................. Gratuito</a:t>
            </a:r>
          </a:p>
          <a:p>
            <a:pPr>
              <a:spcBef>
                <a:spcPts val="300"/>
              </a:spcBef>
              <a:defRPr sz="1300">
                <a:solidFill>
                  <a:srgbClr val="AAAAAA"/>
                </a:solidFill>
                <a:latin typeface="Consolas"/>
              </a:defRPr>
            </a:pPr>
            <a:r>
              <a:t>SerpAPI (100 busquedas/mes) .................. Gratuito</a:t>
            </a:r>
          </a:p>
          <a:p>
            <a:pPr>
              <a:spcBef>
                <a:spcPts val="300"/>
              </a:spcBef>
              <a:defRPr sz="1300">
                <a:solidFill>
                  <a:srgbClr val="AAAAAA"/>
                </a:solidFill>
                <a:latin typeface="Consolas"/>
              </a:defRPr>
            </a:pPr>
            <a:r>
              <a:t>PostgreSQL (self-hosted) ..................... $0</a:t>
            </a:r>
          </a:p>
          <a:p>
            <a:pPr>
              <a:spcBef>
                <a:spcPts val="300"/>
              </a:spcBef>
              <a:defRPr sz="1300">
                <a:solidFill>
                  <a:srgbClr val="AAAAAA"/>
                </a:solidFill>
                <a:latin typeface="Consolas"/>
              </a:defRPr>
            </a:pPr>
            <a:r>
              <a:t>n8n (self-hosted) .............................. $0</a:t>
            </a:r>
          </a:p>
          <a:p>
            <a:pPr>
              <a:spcBef>
                <a:spcPts val="300"/>
              </a:spcBef>
              <a:defRPr sz="1300">
                <a:solidFill>
                  <a:srgbClr val="AAAAAA"/>
                </a:solidFill>
                <a:latin typeface="Consolas"/>
              </a:defRPr>
            </a:pPr>
            <a:r>
              <a:t>Cloudflare Tunnel .............................. $0</a:t>
            </a:r>
          </a:p>
          <a:p>
            <a:pPr>
              <a:spcBef>
                <a:spcPts val="300"/>
              </a:spcBef>
              <a:defRPr sz="1300">
                <a:solidFill>
                  <a:srgbClr val="AAAAAA"/>
                </a:solidFill>
                <a:latin typeface="Consolas"/>
              </a:defRPr>
            </a:pPr>
            <a:r>
              <a:t>Infraestructura (Oracle Linux) ................ $0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98064"/>
            <a:ext cx="12191695" cy="18288"/>
          </a:xfrm>
          <a:prstGeom prst="roundRect">
            <a:avLst/>
          </a:prstGeom>
          <a:solidFill>
            <a:srgbClr val="FF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Calibri"/>
              </a:defRPr>
            </a:pPr>
            <a:r>
              <a:t>github.com/AndresF-GaleanoT/pricepulse-ai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Hecho con Python, NVIDIA NIM, CrewAI y mucho cafe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5029200"/>
            <a:ext cx="1645920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>
              <a:defRPr sz="1300" b="1">
                <a:solidFill>
                  <a:srgbClr val="0F0F23"/>
                </a:solidFill>
                <a:latin typeface="Calibri"/>
              </a:defRPr>
            </a:pPr>
            <a:r>
              <a:t>Python 3.11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5029200"/>
            <a:ext cx="1645920" cy="54864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>
              <a:defRPr sz="1300" b="1">
                <a:solidFill>
                  <a:srgbClr val="0F0F23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5029200"/>
            <a:ext cx="1645920" cy="548640"/>
          </a:xfrm>
          <a:prstGeom prst="roundRect">
            <a:avLst/>
          </a:prstGeom>
          <a:solidFill>
            <a:srgbClr val="FF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>
              <a:defRPr sz="1300" b="1">
                <a:solidFill>
                  <a:srgbClr val="0F0F23"/>
                </a:solidFill>
                <a:latin typeface="Calibri"/>
              </a:defRPr>
            </a:pPr>
            <a:r>
              <a:t>CrewAI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5029200"/>
            <a:ext cx="1645920" cy="54864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>
              <a:defRPr sz="1300" b="1">
                <a:solidFill>
                  <a:srgbClr val="0F0F23"/>
                </a:solidFill>
                <a:latin typeface="Calibri"/>
              </a:defRPr>
            </a:pPr>
            <a:r>
              <a:t>NVIDIA NIM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5029200"/>
            <a:ext cx="1645920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>
              <a:defRPr sz="1300" b="1">
                <a:solidFill>
                  <a:srgbClr val="0F0F23"/>
                </a:solidFill>
                <a:latin typeface="Calibri"/>
              </a:defRPr>
            </a:pPr>
            <a:r>
              <a:t>Docker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